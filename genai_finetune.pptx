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4"/>
  </p:sldMasterIdLst>
  <p:notesMasterIdLst>
    <p:notesMasterId r:id="rId17"/>
  </p:notesMasterIdLst>
  <p:sldIdLst>
    <p:sldId id="256" r:id="rId5"/>
    <p:sldId id="316" r:id="rId6"/>
    <p:sldId id="317" r:id="rId7"/>
    <p:sldId id="321" r:id="rId8"/>
    <p:sldId id="318" r:id="rId9"/>
    <p:sldId id="320" r:id="rId10"/>
    <p:sldId id="319" r:id="rId11"/>
    <p:sldId id="322" r:id="rId12"/>
    <p:sldId id="323" r:id="rId13"/>
    <p:sldId id="325" r:id="rId14"/>
    <p:sldId id="324" r:id="rId15"/>
    <p:sldId id="297" r:id="rId16"/>
  </p:sldIdLst>
  <p:sldSz cx="9144000" cy="5143500" type="screen16x9"/>
  <p:notesSz cx="6858000" cy="9144000"/>
  <p:embeddedFontLst>
    <p:embeddedFont>
      <p:font typeface="Play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ie" initials="" lastIdx="1" clrIdx="0"/>
  <p:cmAuthor id="1" name="Jonathan CHOW Ga Chee _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6" autoAdjust="0"/>
    <p:restoredTop sz="86507" autoAdjust="0"/>
  </p:normalViewPr>
  <p:slideViewPr>
    <p:cSldViewPr snapToGrid="0">
      <p:cViewPr varScale="1">
        <p:scale>
          <a:sx n="114" d="100"/>
          <a:sy n="114" d="100"/>
        </p:scale>
        <p:origin x="519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f6efcc43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33f6efcc433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None/>
            </a:pPr>
            <a:r>
              <a:rPr lang="en-SG" dirty="0"/>
              <a:t>4-bit Qwen3-4B with </a:t>
            </a:r>
            <a:r>
              <a:rPr lang="en-SG" dirty="0" err="1"/>
              <a:t>LoRA</a:t>
            </a:r>
            <a:r>
              <a:rPr lang="en-SG" dirty="0"/>
              <a:t> adapters on curated Chinese tourism Q&amp;A, achieving better performance</a:t>
            </a:r>
            <a:endParaRPr dirty="0"/>
          </a:p>
        </p:txBody>
      </p:sp>
      <p:sp>
        <p:nvSpPr>
          <p:cNvPr id="129" name="Google Shape;129;g33f6efcc433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12248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FDAC-DE7D-B872-FC05-F08A983B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99E70-45E3-7BDF-7001-E829AB00F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F0816-9838-AF7A-CF35-8925AE5A7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i="1" dirty="0"/>
              <a:t>predictions_det5</a:t>
            </a:r>
            <a:r>
              <a:rPr lang="en-SG" dirty="0"/>
              <a:t> and </a:t>
            </a:r>
            <a:r>
              <a:rPr lang="en-SG" i="1" dirty="0"/>
              <a:t>predictions_det6</a:t>
            </a:r>
            <a:r>
              <a:rPr lang="en-SG" dirty="0"/>
              <a:t> top the BLEU chart, indicating the highest </a:t>
            </a:r>
            <a:r>
              <a:rPr lang="en-SG" b="1" dirty="0"/>
              <a:t>n-gram overlap</a:t>
            </a:r>
            <a:r>
              <a:rPr lang="en-SG" dirty="0"/>
              <a:t> with references under deterministic decoding.</a:t>
            </a:r>
          </a:p>
          <a:p>
            <a:r>
              <a:rPr lang="en-SG" dirty="0"/>
              <a:t>The base </a:t>
            </a:r>
            <a:r>
              <a:rPr lang="en-SG" b="1" dirty="0"/>
              <a:t>QWEN3_4B instruct</a:t>
            </a:r>
            <a:r>
              <a:rPr lang="en-SG" dirty="0"/>
              <a:t> remains lowest,</a:t>
            </a:r>
          </a:p>
          <a:p>
            <a:pPr marL="158750" indent="0">
              <a:buNone/>
            </a:pPr>
            <a:endParaRPr lang="en-SG" dirty="0"/>
          </a:p>
          <a:p>
            <a:pPr marL="158750" indent="0">
              <a:buNone/>
            </a:pPr>
            <a:endParaRPr lang="en-SG" dirty="0"/>
          </a:p>
          <a:p>
            <a:r>
              <a:rPr lang="en-SG" i="1" dirty="0"/>
              <a:t>predictions_det6</a:t>
            </a:r>
            <a:r>
              <a:rPr lang="en-SG" dirty="0"/>
              <a:t> leads on </a:t>
            </a:r>
            <a:r>
              <a:rPr lang="en-SG" b="1" dirty="0"/>
              <a:t>BERT_F1_max</a:t>
            </a:r>
            <a:r>
              <a:rPr lang="en-SG" dirty="0"/>
              <a:t>, followed by </a:t>
            </a:r>
            <a:r>
              <a:rPr lang="en-SG" i="1" dirty="0"/>
              <a:t>det5</a:t>
            </a:r>
            <a:r>
              <a:rPr lang="en-SG" dirty="0"/>
              <a:t> and </a:t>
            </a:r>
            <a:r>
              <a:rPr lang="en-SG" i="1" dirty="0"/>
              <a:t>det4</a:t>
            </a:r>
            <a:r>
              <a:rPr lang="en-SG" dirty="0"/>
              <a:t>.</a:t>
            </a:r>
          </a:p>
          <a:p>
            <a:r>
              <a:rPr lang="en-SG" dirty="0"/>
              <a:t>Rankings are broadly consistent with BLEU, suggesting gains are </a:t>
            </a:r>
            <a:r>
              <a:rPr lang="en-SG" b="1" dirty="0"/>
              <a:t>semantic</a:t>
            </a:r>
            <a:r>
              <a:rPr lang="en-SG" dirty="0"/>
              <a:t>, not only surface-level.</a:t>
            </a:r>
          </a:p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7910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On the left, we see the </a:t>
            </a:r>
            <a:r>
              <a:rPr lang="en-SG" b="1" dirty="0"/>
              <a:t>BLEU scores</a:t>
            </a:r>
            <a:r>
              <a:rPr lang="en-SG" dirty="0"/>
              <a:t>, which measure </a:t>
            </a:r>
            <a:r>
              <a:rPr lang="en-SG" b="1" dirty="0"/>
              <a:t>n-gram overlap</a:t>
            </a:r>
            <a:r>
              <a:rPr lang="en-SG" dirty="0"/>
              <a:t> between model outputs and the expert reference answers.</a:t>
            </a:r>
            <a:br>
              <a:rPr lang="en-SG" dirty="0"/>
            </a:br>
            <a:r>
              <a:rPr lang="en-SG" dirty="0"/>
              <a:t>Models </a:t>
            </a:r>
            <a:r>
              <a:rPr lang="en-SG" i="1" dirty="0"/>
              <a:t>predictions_real5</a:t>
            </a:r>
            <a:r>
              <a:rPr lang="en-SG" dirty="0"/>
              <a:t> and </a:t>
            </a:r>
            <a:r>
              <a:rPr lang="en-SG" i="1" dirty="0"/>
              <a:t>predictions_real6</a:t>
            </a:r>
            <a:r>
              <a:rPr lang="en-SG" dirty="0"/>
              <a:t> achieve the highest BLEU scores, indicating that their word-level phrasing is most similar to human references.</a:t>
            </a:r>
            <a:br>
              <a:rPr lang="en-SG" dirty="0"/>
            </a:br>
            <a:r>
              <a:rPr lang="en-SG" dirty="0"/>
              <a:t>The base Qwen-3 4B model lags behind, which suggests its responses diverge more lexically even when semantically correct.</a:t>
            </a:r>
          </a:p>
          <a:p>
            <a:endParaRPr lang="en-SG" dirty="0"/>
          </a:p>
          <a:p>
            <a:r>
              <a:rPr lang="en-SG" dirty="0"/>
              <a:t>On the right, we have </a:t>
            </a:r>
            <a:r>
              <a:rPr lang="en-SG" b="1" dirty="0" err="1"/>
              <a:t>BERTScore</a:t>
            </a:r>
            <a:r>
              <a:rPr lang="en-SG" dirty="0"/>
              <a:t>, which captures </a:t>
            </a:r>
            <a:r>
              <a:rPr lang="en-SG" b="1" dirty="0"/>
              <a:t>semantic similarity</a:t>
            </a:r>
            <a:r>
              <a:rPr lang="en-SG" dirty="0"/>
              <a:t> at the embedding level — effectively judging whether the model conveys the same meaning, even with different wording.</a:t>
            </a:r>
            <a:br>
              <a:rPr lang="en-SG" dirty="0"/>
            </a:br>
            <a:r>
              <a:rPr lang="en-SG" dirty="0"/>
              <a:t>Again, </a:t>
            </a:r>
            <a:r>
              <a:rPr lang="en-SG" i="1" dirty="0"/>
              <a:t>predictions_real6</a:t>
            </a:r>
            <a:r>
              <a:rPr lang="en-SG" dirty="0"/>
              <a:t>, </a:t>
            </a:r>
            <a:r>
              <a:rPr lang="en-SG" i="1" dirty="0"/>
              <a:t>real5</a:t>
            </a:r>
            <a:r>
              <a:rPr lang="en-SG" dirty="0"/>
              <a:t>, and </a:t>
            </a:r>
            <a:r>
              <a:rPr lang="en-SG" i="1" dirty="0"/>
              <a:t>real4</a:t>
            </a:r>
            <a:r>
              <a:rPr lang="en-SG" dirty="0"/>
              <a:t> perform best, maintaining both lexical and semantic alignment with human-authored answers.</a:t>
            </a:r>
            <a:br>
              <a:rPr lang="en-SG" dirty="0"/>
            </a:br>
            <a:r>
              <a:rPr lang="en-SG" dirty="0"/>
              <a:t>The consistent ranking between BLEU and </a:t>
            </a:r>
            <a:r>
              <a:rPr lang="en-SG" dirty="0" err="1"/>
              <a:t>BERTScore</a:t>
            </a:r>
            <a:r>
              <a:rPr lang="en-SG" dirty="0"/>
              <a:t> indicates that the improvements are </a:t>
            </a:r>
            <a:r>
              <a:rPr lang="en-SG" b="1" dirty="0"/>
              <a:t>genuine semantic gains</a:t>
            </a:r>
            <a:r>
              <a:rPr lang="en-SG" dirty="0"/>
              <a:t>, not just surface-level imitation.</a:t>
            </a:r>
          </a:p>
        </p:txBody>
      </p:sp>
    </p:spTree>
    <p:extLst>
      <p:ext uri="{BB962C8B-B14F-4D97-AF65-F5344CB8AC3E}">
        <p14:creationId xmlns:p14="http://schemas.microsoft.com/office/powerpoint/2010/main" val="381418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models such as </a:t>
            </a:r>
            <a:r>
              <a:rPr lang="en-SG" i="1" dirty="0"/>
              <a:t>predictions_real6</a:t>
            </a:r>
            <a:r>
              <a:rPr lang="en-SG" dirty="0"/>
              <a:t> and </a:t>
            </a:r>
            <a:r>
              <a:rPr lang="en-SG" i="1" dirty="0"/>
              <a:t>predictions_real4</a:t>
            </a:r>
            <a:r>
              <a:rPr lang="en-SG" dirty="0"/>
              <a:t> perform best overall, achieving higher clarity and relevance scores.</a:t>
            </a:r>
            <a:br>
              <a:rPr lang="en-SG" dirty="0"/>
            </a:br>
            <a:r>
              <a:rPr lang="en-SG" dirty="0"/>
              <a:t>The base Qwen-3 4B model, before fine-tuning, lags slightly behind, indicating that </a:t>
            </a:r>
            <a:r>
              <a:rPr lang="en-SG" b="1" dirty="0"/>
              <a:t>our fine-tuning improved overall answer quality</a:t>
            </a:r>
            <a:r>
              <a:rPr lang="en-SG" dirty="0"/>
              <a:t>, especially in correctness and clarity</a:t>
            </a:r>
          </a:p>
        </p:txBody>
      </p:sp>
    </p:spTree>
    <p:extLst>
      <p:ext uri="{BB962C8B-B14F-4D97-AF65-F5344CB8AC3E}">
        <p14:creationId xmlns:p14="http://schemas.microsoft.com/office/powerpoint/2010/main" val="1416427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</a:t>
            </a:r>
            <a:r>
              <a:rPr lang="en-SG" b="1" dirty="0"/>
              <a:t>Qwen3-4B base model</a:t>
            </a:r>
            <a:r>
              <a:rPr lang="en-SG" dirty="0"/>
              <a:t> received lower scores across all dimensions, reaffirming that </a:t>
            </a:r>
            <a:r>
              <a:rPr lang="en-SG" b="1" dirty="0"/>
              <a:t>fine-tuning significantly improved the model’s ability to generate relevant, readable, and accurate responses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5836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6CFBA6A1-824A-04A5-074C-1ADFBC0C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f6efcc433_0_164:notes">
            <a:extLst>
              <a:ext uri="{FF2B5EF4-FFF2-40B4-BE49-F238E27FC236}">
                <a16:creationId xmlns:a16="http://schemas.microsoft.com/office/drawing/2014/main" id="{7790A97C-3AE8-F4A6-AAC1-86F9CBA25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33f6efcc433_0_164:notes">
            <a:extLst>
              <a:ext uri="{FF2B5EF4-FFF2-40B4-BE49-F238E27FC236}">
                <a16:creationId xmlns:a16="http://schemas.microsoft.com/office/drawing/2014/main" id="{BCD78E3A-8C8E-33E1-09A7-6C8756DFF1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g33f6efcc433_0_164:notes">
            <a:extLst>
              <a:ext uri="{FF2B5EF4-FFF2-40B4-BE49-F238E27FC236}">
                <a16:creationId xmlns:a16="http://schemas.microsoft.com/office/drawing/2014/main" id="{F8A53AED-7361-D11C-B8A2-970D4F0A0C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398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800"/>
              <a:buFont typeface="Arial"/>
              <a:buNone/>
              <a:defRPr sz="38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628650" y="692210"/>
            <a:ext cx="78867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Play"/>
              <a:buNone/>
              <a:defRPr sz="3000" b="1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2100"/>
              <a:buChar char="•"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500"/>
              <a:buChar char="•"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1400"/>
              <a:buChar char="•"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206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Data has been adjusted for confidentiality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110038" y="47625"/>
            <a:ext cx="940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SMU Classification: Restricted</a:t>
            </a:r>
            <a:endParaRPr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8.14346?utm_source=chatgpt.com" TargetMode="External"/><Relationship Id="rId2" Type="http://schemas.openxmlformats.org/officeDocument/2006/relationships/hyperlink" Target="https://aclanthology.org/2023.acl-long.754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5.09388?utm_source=chatgpt.com" TargetMode="External"/><Relationship Id="rId5" Type="http://schemas.openxmlformats.org/officeDocument/2006/relationships/hyperlink" Target="https://arxiv.org/abs/2305.14314?utm_source=chatgpt.com" TargetMode="External"/><Relationship Id="rId4" Type="http://schemas.openxmlformats.org/officeDocument/2006/relationships/hyperlink" Target="https://arxiv.org/abs/2407.12791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ctrTitle"/>
          </p:nvPr>
        </p:nvSpPr>
        <p:spPr>
          <a:xfrm>
            <a:off x="311708" y="1091857"/>
            <a:ext cx="8520600" cy="1317788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sz="2800" dirty="0" err="1"/>
              <a:t>QLoRA</a:t>
            </a:r>
            <a:r>
              <a:rPr lang="en-SG" sz="2800" dirty="0"/>
              <a:t> Fine-Tuning of Qwen3-4B on a Curated Chinese Tourism Q&amp;A Corpus from Undergraduate Contributors</a:t>
            </a:r>
            <a:endParaRPr lang="en-GB" sz="2800" dirty="0"/>
          </a:p>
        </p:txBody>
      </p:sp>
      <p:sp>
        <p:nvSpPr>
          <p:cNvPr id="132" name="Google Shape;132;p25"/>
          <p:cNvSpPr txBox="1">
            <a:spLocks noGrp="1"/>
          </p:cNvSpPr>
          <p:nvPr>
            <p:ph type="ctrTitle"/>
          </p:nvPr>
        </p:nvSpPr>
        <p:spPr>
          <a:xfrm>
            <a:off x="311700" y="2810245"/>
            <a:ext cx="8520600" cy="2188952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br>
              <a:rPr lang="en-SG" sz="1600" b="0" dirty="0">
                <a:solidFill>
                  <a:srgbClr val="595959"/>
                </a:solidFill>
              </a:rPr>
            </a:br>
            <a:br>
              <a:rPr lang="en-SG" sz="1600" b="0" dirty="0">
                <a:solidFill>
                  <a:srgbClr val="595959"/>
                </a:solidFill>
              </a:rPr>
            </a:br>
            <a:br>
              <a:rPr lang="en-SG" sz="1600" b="0" dirty="0">
                <a:solidFill>
                  <a:srgbClr val="595959"/>
                </a:solidFill>
              </a:rPr>
            </a:br>
            <a:br>
              <a:rPr lang="en-SG" sz="1600" b="0" dirty="0">
                <a:solidFill>
                  <a:srgbClr val="595959"/>
                </a:solidFill>
              </a:rPr>
            </a:br>
            <a:br>
              <a:rPr lang="en-SG" sz="1600" b="0" dirty="0">
                <a:solidFill>
                  <a:srgbClr val="595959"/>
                </a:solidFill>
              </a:rPr>
            </a:br>
            <a:endParaRPr lang="en-SG" sz="1600" b="0" dirty="0">
              <a:solidFill>
                <a:srgbClr val="595959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LI Xinjie</a:t>
            </a:r>
            <a:endParaRPr lang="en-GB" sz="1600" b="0" dirty="0"/>
          </a:p>
        </p:txBody>
      </p:sp>
      <p:sp>
        <p:nvSpPr>
          <p:cNvPr id="133" name="Google Shape;133;p25"/>
          <p:cNvSpPr txBox="1">
            <a:spLocks noGrp="1"/>
          </p:cNvSpPr>
          <p:nvPr>
            <p:ph type="sldNum" idx="12"/>
          </p:nvPr>
        </p:nvSpPr>
        <p:spPr>
          <a:xfrm>
            <a:off x="6874975" y="4767338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D8E9-3840-99A4-E9D1-2115B9F6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28575"/>
            <a:ext cx="7886700" cy="575700"/>
          </a:xfrm>
        </p:spPr>
        <p:txBody>
          <a:bodyPr>
            <a:normAutofit fontScale="90000"/>
          </a:bodyPr>
          <a:lstStyle/>
          <a:p>
            <a:r>
              <a:rPr lang="en-SG" dirty="0"/>
              <a:t>From Curated Multi-Style Q&amp;A to a Chinese Tour Assistant: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C54DB-F41B-E593-F1FE-D1AC22D8E3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79C99-6FF3-700B-76D6-17305F8B1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51" t="36885" r="23178" b="34870"/>
          <a:stretch>
            <a:fillRect/>
          </a:stretch>
        </p:blipFill>
        <p:spPr>
          <a:xfrm>
            <a:off x="690995" y="3877380"/>
            <a:ext cx="1361210" cy="44161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8C045E-9AD6-74AF-A4CE-B196CD3741DE}"/>
              </a:ext>
            </a:extLst>
          </p:cNvPr>
          <p:cNvSpPr/>
          <p:nvPr/>
        </p:nvSpPr>
        <p:spPr>
          <a:xfrm>
            <a:off x="72737" y="1646146"/>
            <a:ext cx="8951768" cy="31908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36A6E9-2A95-0665-3B03-6F451BC89272}"/>
              </a:ext>
            </a:extLst>
          </p:cNvPr>
          <p:cNvSpPr/>
          <p:nvPr/>
        </p:nvSpPr>
        <p:spPr>
          <a:xfrm>
            <a:off x="277957" y="2073420"/>
            <a:ext cx="2187286" cy="8397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Curated tourism Q&amp;A from 136 undergraduate students (117 for train, 19 for validation)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7566C9-DB63-1B60-F801-C74BF06AF8CF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1371600" y="2913190"/>
            <a:ext cx="0" cy="30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7E699E-B5D9-E2F3-911C-640EA592DEE9}"/>
              </a:ext>
            </a:extLst>
          </p:cNvPr>
          <p:cNvSpPr/>
          <p:nvPr/>
        </p:nvSpPr>
        <p:spPr>
          <a:xfrm>
            <a:off x="2750993" y="2941061"/>
            <a:ext cx="1678132" cy="42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Spoken expression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92CAD1-2BBC-4432-668B-1F5C55413030}"/>
              </a:ext>
            </a:extLst>
          </p:cNvPr>
          <p:cNvSpPr/>
          <p:nvPr/>
        </p:nvSpPr>
        <p:spPr>
          <a:xfrm>
            <a:off x="2750993" y="3582700"/>
            <a:ext cx="1678132" cy="42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Formal expression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7A292C-400F-51AF-6967-A4CB76D1149E}"/>
              </a:ext>
            </a:extLst>
          </p:cNvPr>
          <p:cNvSpPr/>
          <p:nvPr/>
        </p:nvSpPr>
        <p:spPr>
          <a:xfrm>
            <a:off x="2750993" y="4170976"/>
            <a:ext cx="1678132" cy="42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Concision expression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813EF1-26B2-2BA4-B220-4BE9AA59630B}"/>
              </a:ext>
            </a:extLst>
          </p:cNvPr>
          <p:cNvSpPr/>
          <p:nvPr/>
        </p:nvSpPr>
        <p:spPr>
          <a:xfrm>
            <a:off x="532534" y="3218261"/>
            <a:ext cx="1678132" cy="420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Validation by experts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A73881-7E00-FB85-7E65-1ACAB3D3A12E}"/>
              </a:ext>
            </a:extLst>
          </p:cNvPr>
          <p:cNvCxnSpPr>
            <a:stCxn id="16" idx="2"/>
            <a:endCxn id="6" idx="0"/>
          </p:cNvCxnSpPr>
          <p:nvPr/>
        </p:nvCxnSpPr>
        <p:spPr>
          <a:xfrm>
            <a:off x="1371600" y="3639093"/>
            <a:ext cx="0" cy="23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26426F-793B-4EF6-E3AD-742B355A4260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2052205" y="3151477"/>
            <a:ext cx="698788" cy="946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A725DA-D101-C155-BB70-AE917F23C973}"/>
              </a:ext>
            </a:extLst>
          </p:cNvPr>
          <p:cNvCxnSpPr>
            <a:stCxn id="6" idx="3"/>
            <a:endCxn id="12" idx="1"/>
          </p:cNvCxnSpPr>
          <p:nvPr/>
        </p:nvCxnSpPr>
        <p:spPr>
          <a:xfrm flipV="1">
            <a:off x="2052205" y="3793116"/>
            <a:ext cx="698788" cy="30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628F72-71A3-F3C1-8EBA-BC8F1101DC47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2052205" y="4098187"/>
            <a:ext cx="698788" cy="283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720343C-8C5B-40F8-5E38-6FD1B6B79ABA}"/>
              </a:ext>
            </a:extLst>
          </p:cNvPr>
          <p:cNvSpPr/>
          <p:nvPr/>
        </p:nvSpPr>
        <p:spPr>
          <a:xfrm>
            <a:off x="145473" y="1956522"/>
            <a:ext cx="4426527" cy="28107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EA5575-4055-76DA-0127-EB8F9A955D28}"/>
              </a:ext>
            </a:extLst>
          </p:cNvPr>
          <p:cNvSpPr txBox="1"/>
          <p:nvPr/>
        </p:nvSpPr>
        <p:spPr>
          <a:xfrm>
            <a:off x="1341726" y="1646146"/>
            <a:ext cx="1737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Curated Dataset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8DA8A61-D11C-31B7-924C-F7AAA0B2A508}"/>
              </a:ext>
            </a:extLst>
          </p:cNvPr>
          <p:cNvSpPr/>
          <p:nvPr/>
        </p:nvSpPr>
        <p:spPr>
          <a:xfrm>
            <a:off x="5250006" y="1959553"/>
            <a:ext cx="2415887" cy="28107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DE2A021-820A-C4E9-68A6-9F9729514DB8}"/>
              </a:ext>
            </a:extLst>
          </p:cNvPr>
          <p:cNvSpPr/>
          <p:nvPr/>
        </p:nvSpPr>
        <p:spPr>
          <a:xfrm>
            <a:off x="4665518" y="3151477"/>
            <a:ext cx="514350" cy="431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256E7C-24AE-F892-7CAF-7077821F6D51}"/>
              </a:ext>
            </a:extLst>
          </p:cNvPr>
          <p:cNvSpPr txBox="1"/>
          <p:nvPr/>
        </p:nvSpPr>
        <p:spPr>
          <a:xfrm>
            <a:off x="5433147" y="1632641"/>
            <a:ext cx="2053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Supervised Finetuning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F1CE914-DFA0-C667-45AC-FCF56C1AE1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046" b="32989"/>
          <a:stretch>
            <a:fillRect/>
          </a:stretch>
        </p:blipFill>
        <p:spPr>
          <a:xfrm>
            <a:off x="5600699" y="2280587"/>
            <a:ext cx="1714500" cy="5823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C5623FB-DC73-955B-D245-D9645F63F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093" y="3406182"/>
            <a:ext cx="2029278" cy="1263235"/>
          </a:xfrm>
          <a:prstGeom prst="rect">
            <a:avLst/>
          </a:prstGeom>
        </p:spPr>
      </p:pic>
      <p:sp>
        <p:nvSpPr>
          <p:cNvPr id="40" name="Cross 39">
            <a:extLst>
              <a:ext uri="{FF2B5EF4-FFF2-40B4-BE49-F238E27FC236}">
                <a16:creationId xmlns:a16="http://schemas.microsoft.com/office/drawing/2014/main" id="{3A4E657D-0ED7-F6A3-1ECA-99BBCD733E48}"/>
              </a:ext>
            </a:extLst>
          </p:cNvPr>
          <p:cNvSpPr/>
          <p:nvPr/>
        </p:nvSpPr>
        <p:spPr>
          <a:xfrm>
            <a:off x="6281305" y="2988498"/>
            <a:ext cx="322118" cy="292098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D5DF47-772B-880A-9E04-6346C3EBF423}"/>
              </a:ext>
            </a:extLst>
          </p:cNvPr>
          <p:cNvSpPr/>
          <p:nvPr/>
        </p:nvSpPr>
        <p:spPr>
          <a:xfrm>
            <a:off x="7767431" y="3119600"/>
            <a:ext cx="514350" cy="431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2250B84-8728-C7FE-03A7-6CC41B00A07E}"/>
              </a:ext>
            </a:extLst>
          </p:cNvPr>
          <p:cNvSpPr/>
          <p:nvPr/>
        </p:nvSpPr>
        <p:spPr>
          <a:xfrm>
            <a:off x="8369877" y="2049760"/>
            <a:ext cx="496166" cy="2461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A38FF8-0923-A9AF-9349-43F436C9D6A7}"/>
              </a:ext>
            </a:extLst>
          </p:cNvPr>
          <p:cNvSpPr txBox="1"/>
          <p:nvPr/>
        </p:nvSpPr>
        <p:spPr>
          <a:xfrm>
            <a:off x="8417905" y="2212461"/>
            <a:ext cx="400110" cy="24380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Chinese Tour Assistant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007000-713B-E109-AFF2-AED122A76147}"/>
              </a:ext>
            </a:extLst>
          </p:cNvPr>
          <p:cNvSpPr txBox="1"/>
          <p:nvPr/>
        </p:nvSpPr>
        <p:spPr>
          <a:xfrm>
            <a:off x="2716893" y="2407450"/>
            <a:ext cx="1761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Data augmentation to 1170 Q&amp;A</a:t>
            </a:r>
          </a:p>
        </p:txBody>
      </p:sp>
    </p:spTree>
    <p:extLst>
      <p:ext uri="{BB962C8B-B14F-4D97-AF65-F5344CB8AC3E}">
        <p14:creationId xmlns:p14="http://schemas.microsoft.com/office/powerpoint/2010/main" val="402521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8647-AA7B-650F-A0F3-3DBA6D80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Human-in-the-Loop Evaluation: Gold-Standard Creation and LLM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43675-7C1A-3097-AC4C-4395DE871B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40B5BA-5A31-6BB5-8207-099F9244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099" y="1580363"/>
            <a:ext cx="1106457" cy="1106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152791-FEEB-4B0C-1520-C5A555C55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290" y="3062755"/>
            <a:ext cx="1170251" cy="1170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98747-6CB8-27A6-0528-576FE26F3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935" y="3601835"/>
            <a:ext cx="914400" cy="9144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818904-DAD7-5A0A-514F-36186EECA281}"/>
              </a:ext>
            </a:extLst>
          </p:cNvPr>
          <p:cNvSpPr/>
          <p:nvPr/>
        </p:nvSpPr>
        <p:spPr>
          <a:xfrm>
            <a:off x="833794" y="2401077"/>
            <a:ext cx="1506682" cy="727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5 unseen prompt created by one expert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A56670-89B4-78E2-9CC5-0996942E221E}"/>
              </a:ext>
            </a:extLst>
          </p:cNvPr>
          <p:cNvSpPr/>
          <p:nvPr/>
        </p:nvSpPr>
        <p:spPr>
          <a:xfrm>
            <a:off x="3439391" y="2484735"/>
            <a:ext cx="1595004" cy="70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Comparison with “Gold Standard” expert answer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9AB5D8-F3B3-4F95-B508-2F895F3173FF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5034395" y="2133592"/>
            <a:ext cx="1189704" cy="702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2407FD5-3289-2C11-01F2-E7DBB132B086}"/>
              </a:ext>
            </a:extLst>
          </p:cNvPr>
          <p:cNvCxnSpPr>
            <a:cxnSpLocks/>
            <a:stCxn id="13" idx="3"/>
            <a:endCxn id="8" idx="1"/>
          </p:cNvCxnSpPr>
          <p:nvPr/>
        </p:nvCxnSpPr>
        <p:spPr>
          <a:xfrm>
            <a:off x="5034395" y="2836035"/>
            <a:ext cx="1172895" cy="811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16262F-6A1A-9284-6F92-CF8B3E3AD00A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 flipV="1">
            <a:off x="2044335" y="4046984"/>
            <a:ext cx="1512484" cy="12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2D2CA5-1ED3-CEB0-8E59-3D11FB834415}"/>
              </a:ext>
            </a:extLst>
          </p:cNvPr>
          <p:cNvSpPr/>
          <p:nvPr/>
        </p:nvSpPr>
        <p:spPr>
          <a:xfrm>
            <a:off x="3556819" y="3654729"/>
            <a:ext cx="1360147" cy="7845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Create “Gold Standard” Answers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C1CB0AF-2E6A-1278-506C-F7121A08B63F}"/>
              </a:ext>
            </a:extLst>
          </p:cNvPr>
          <p:cNvCxnSpPr>
            <a:cxnSpLocks/>
          </p:cNvCxnSpPr>
          <p:nvPr/>
        </p:nvCxnSpPr>
        <p:spPr>
          <a:xfrm flipV="1">
            <a:off x="1587135" y="3128440"/>
            <a:ext cx="0" cy="473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617D78-FBA0-CC84-5CF1-520EDF04EE4F}"/>
              </a:ext>
            </a:extLst>
          </p:cNvPr>
          <p:cNvCxnSpPr>
            <a:cxnSpLocks/>
            <a:stCxn id="30" idx="0"/>
            <a:endCxn id="13" idx="2"/>
          </p:cNvCxnSpPr>
          <p:nvPr/>
        </p:nvCxnSpPr>
        <p:spPr>
          <a:xfrm flipV="1">
            <a:off x="4236893" y="3187335"/>
            <a:ext cx="0" cy="46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4B2AD7-AE72-175A-05D8-7E1AF7D5C5D3}"/>
              </a:ext>
            </a:extLst>
          </p:cNvPr>
          <p:cNvSpPr txBox="1"/>
          <p:nvPr/>
        </p:nvSpPr>
        <p:spPr>
          <a:xfrm>
            <a:off x="7377542" y="1636568"/>
            <a:ext cx="18339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Validation by another human expert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A9F1DA-8B98-59C3-B0B8-88E12151F32D}"/>
              </a:ext>
            </a:extLst>
          </p:cNvPr>
          <p:cNvSpPr txBox="1"/>
          <p:nvPr/>
        </p:nvSpPr>
        <p:spPr>
          <a:xfrm>
            <a:off x="7377542" y="3618806"/>
            <a:ext cx="1833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Validation by LLM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3445E5F-2A10-8871-49B0-E3C0E00DAF5E}"/>
              </a:ext>
            </a:extLst>
          </p:cNvPr>
          <p:cNvSpPr/>
          <p:nvPr/>
        </p:nvSpPr>
        <p:spPr>
          <a:xfrm>
            <a:off x="1991295" y="1741305"/>
            <a:ext cx="1742933" cy="5071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Chinese Tour Assistant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2CE7A0E-5104-B9F6-5C8A-0CA36D1666A7}"/>
              </a:ext>
            </a:extLst>
          </p:cNvPr>
          <p:cNvCxnSpPr>
            <a:cxnSpLocks/>
            <a:stCxn id="10" idx="0"/>
            <a:endCxn id="48" idx="1"/>
          </p:cNvCxnSpPr>
          <p:nvPr/>
        </p:nvCxnSpPr>
        <p:spPr>
          <a:xfrm flipV="1">
            <a:off x="1587135" y="1994856"/>
            <a:ext cx="404160" cy="406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4C36774-1ECE-FBE4-95BF-10CCCE036991}"/>
              </a:ext>
            </a:extLst>
          </p:cNvPr>
          <p:cNvCxnSpPr>
            <a:cxnSpLocks/>
            <a:stCxn id="48" idx="3"/>
            <a:endCxn id="13" idx="0"/>
          </p:cNvCxnSpPr>
          <p:nvPr/>
        </p:nvCxnSpPr>
        <p:spPr>
          <a:xfrm>
            <a:off x="3734228" y="1994856"/>
            <a:ext cx="502665" cy="489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CA44511-D3CD-957F-E551-63C7E22DF104}"/>
              </a:ext>
            </a:extLst>
          </p:cNvPr>
          <p:cNvSpPr/>
          <p:nvPr/>
        </p:nvSpPr>
        <p:spPr>
          <a:xfrm>
            <a:off x="400050" y="1553441"/>
            <a:ext cx="4884095" cy="33198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D52C6C1-F33D-3E9B-E9FB-3FB13515233F}"/>
              </a:ext>
            </a:extLst>
          </p:cNvPr>
          <p:cNvSpPr/>
          <p:nvPr/>
        </p:nvSpPr>
        <p:spPr>
          <a:xfrm>
            <a:off x="5749377" y="1435633"/>
            <a:ext cx="3327449" cy="338561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DD10D5-30EF-CB9E-2F10-48FB8B49CC2D}"/>
              </a:ext>
            </a:extLst>
          </p:cNvPr>
          <p:cNvSpPr txBox="1"/>
          <p:nvPr/>
        </p:nvSpPr>
        <p:spPr>
          <a:xfrm>
            <a:off x="6107263" y="4513563"/>
            <a:ext cx="1077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Stage 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49FE19-558F-A93B-5008-D329D59616A4}"/>
              </a:ext>
            </a:extLst>
          </p:cNvPr>
          <p:cNvSpPr txBox="1"/>
          <p:nvPr/>
        </p:nvSpPr>
        <p:spPr>
          <a:xfrm>
            <a:off x="833794" y="4590221"/>
            <a:ext cx="1077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Stage 1</a:t>
            </a:r>
          </a:p>
        </p:txBody>
      </p:sp>
    </p:spTree>
    <p:extLst>
      <p:ext uri="{BB962C8B-B14F-4D97-AF65-F5344CB8AC3E}">
        <p14:creationId xmlns:p14="http://schemas.microsoft.com/office/powerpoint/2010/main" val="1794672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DD4B-3F4C-488E-4313-7816E89A3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34" y="735240"/>
            <a:ext cx="2765388" cy="1357122"/>
          </a:xfrm>
        </p:spPr>
        <p:txBody>
          <a:bodyPr>
            <a:normAutofit fontScale="90000"/>
          </a:bodyPr>
          <a:lstStyle/>
          <a:p>
            <a:r>
              <a:rPr lang="en-SG" dirty="0"/>
              <a:t>Evaluation scoring system (Wei, 2024):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A2F5E-0AF0-0B8A-8688-877951B1C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625C2A-B7DA-2B56-5837-01BCB206E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623700"/>
              </p:ext>
            </p:extLst>
          </p:nvPr>
        </p:nvGraphicFramePr>
        <p:xfrm>
          <a:off x="3759798" y="659289"/>
          <a:ext cx="4986168" cy="4276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066">
                  <a:extLst>
                    <a:ext uri="{9D8B030D-6E8A-4147-A177-3AD203B41FA5}">
                      <a16:colId xmlns:a16="http://schemas.microsoft.com/office/drawing/2014/main" val="1727001082"/>
                    </a:ext>
                  </a:extLst>
                </a:gridCol>
                <a:gridCol w="468080">
                  <a:extLst>
                    <a:ext uri="{9D8B030D-6E8A-4147-A177-3AD203B41FA5}">
                      <a16:colId xmlns:a16="http://schemas.microsoft.com/office/drawing/2014/main" val="3999448124"/>
                    </a:ext>
                  </a:extLst>
                </a:gridCol>
                <a:gridCol w="3550022">
                  <a:extLst>
                    <a:ext uri="{9D8B030D-6E8A-4147-A177-3AD203B41FA5}">
                      <a16:colId xmlns:a16="http://schemas.microsoft.com/office/drawing/2014/main" val="2308144628"/>
                    </a:ext>
                  </a:extLst>
                </a:gridCol>
              </a:tblGrid>
              <a:tr h="3159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Score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Explanation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96553396"/>
                  </a:ext>
                </a:extLst>
              </a:tr>
              <a:tr h="315998"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Consistency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entirely irrelevant to the question.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39131295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somewhat relevant to the question.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641994449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relevant to the question.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55166599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highly relevant to the question.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99901385"/>
                  </a:ext>
                </a:extLst>
              </a:tr>
              <a:tr h="315998"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Readability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extremely difficult to understand or has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poor grammar and structure.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565850639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somewhat difficult to understand or has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grammatical errors.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91647517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clear, with only a few grammatical errors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room for improvement.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92738322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very clear, well structured, has no grammatical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errors and is easy to understand.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02517634"/>
                  </a:ext>
                </a:extLst>
              </a:tr>
              <a:tr h="315998"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Availability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There are serious problems or errors in the answer and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not very usable.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35151597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There are some errors in the answer, some of which need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 be verified by searching for the answer.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85321640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error-free, with only a few confusing elements.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932209759"/>
                  </a:ext>
                </a:extLst>
              </a:tr>
              <a:tr h="31599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answer is error-free and instructive, providing a better</a:t>
                      </a:r>
                      <a:b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experience for travellers.</a:t>
                      </a: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442235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389069-5B2D-FF42-F673-81BB64764425}"/>
              </a:ext>
            </a:extLst>
          </p:cNvPr>
          <p:cNvSpPr txBox="1"/>
          <p:nvPr/>
        </p:nvSpPr>
        <p:spPr>
          <a:xfrm>
            <a:off x="658814" y="2571750"/>
            <a:ext cx="2243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Human experts and LLM are given this table for evaluation</a:t>
            </a:r>
          </a:p>
        </p:txBody>
      </p:sp>
    </p:spTree>
    <p:extLst>
      <p:ext uri="{BB962C8B-B14F-4D97-AF65-F5344CB8AC3E}">
        <p14:creationId xmlns:p14="http://schemas.microsoft.com/office/powerpoint/2010/main" val="159056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0CA2-73AE-165A-2384-9D0B779B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Supervised Finetuning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20F9A-D711-CFEE-E0E0-25A37B0F56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E6718D-3BAD-6394-1A96-CF11EA559AAA}"/>
              </a:ext>
            </a:extLst>
          </p:cNvPr>
          <p:cNvSpPr/>
          <p:nvPr/>
        </p:nvSpPr>
        <p:spPr>
          <a:xfrm>
            <a:off x="368876" y="1371601"/>
            <a:ext cx="1943101" cy="12105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16</a:t>
            </a:r>
          </a:p>
          <a:p>
            <a:r>
              <a:rPr lang="en-SG" dirty="0"/>
              <a:t>Alpha = 32</a:t>
            </a:r>
          </a:p>
          <a:p>
            <a:r>
              <a:rPr lang="en-SG" dirty="0"/>
              <a:t>learning rate = 5e-4</a:t>
            </a:r>
          </a:p>
          <a:p>
            <a:r>
              <a:rPr lang="en-SG" dirty="0"/>
              <a:t>Warm up = 0.05</a:t>
            </a:r>
          </a:p>
          <a:p>
            <a:r>
              <a:rPr lang="en-SG" dirty="0"/>
              <a:t>Epoch = 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E42C62-6F4D-57E4-994D-C71FD8BD5CA0}"/>
              </a:ext>
            </a:extLst>
          </p:cNvPr>
          <p:cNvSpPr/>
          <p:nvPr/>
        </p:nvSpPr>
        <p:spPr>
          <a:xfrm>
            <a:off x="2911618" y="1527462"/>
            <a:ext cx="1943101" cy="10442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16</a:t>
            </a:r>
          </a:p>
          <a:p>
            <a:r>
              <a:rPr lang="en-SG" dirty="0"/>
              <a:t>Alpha = 32</a:t>
            </a:r>
          </a:p>
          <a:p>
            <a:r>
              <a:rPr lang="en-SG" dirty="0"/>
              <a:t>learning rate = 5e-4</a:t>
            </a:r>
          </a:p>
          <a:p>
            <a:r>
              <a:rPr lang="en-SG" dirty="0"/>
              <a:t>Warm up = 0.05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B21A078-3F34-DA07-6086-65CF27813C7B}"/>
              </a:ext>
            </a:extLst>
          </p:cNvPr>
          <p:cNvSpPr/>
          <p:nvPr/>
        </p:nvSpPr>
        <p:spPr>
          <a:xfrm>
            <a:off x="2504209" y="1995053"/>
            <a:ext cx="280555" cy="12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7382D0-025D-9298-8334-2F9B7223050D}"/>
              </a:ext>
            </a:extLst>
          </p:cNvPr>
          <p:cNvSpPr/>
          <p:nvPr/>
        </p:nvSpPr>
        <p:spPr>
          <a:xfrm>
            <a:off x="5479472" y="1381992"/>
            <a:ext cx="1943101" cy="12105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16</a:t>
            </a:r>
          </a:p>
          <a:p>
            <a:r>
              <a:rPr lang="en-SG" dirty="0"/>
              <a:t>Alpha = 32</a:t>
            </a:r>
          </a:p>
          <a:p>
            <a:r>
              <a:rPr lang="en-SG" dirty="0"/>
              <a:t>learning rate = 1e-4</a:t>
            </a:r>
          </a:p>
          <a:p>
            <a:r>
              <a:rPr lang="en-SG" dirty="0"/>
              <a:t>Warm up = 0.1</a:t>
            </a:r>
          </a:p>
          <a:p>
            <a:r>
              <a:rPr lang="en-SG" dirty="0"/>
              <a:t>Epoch = 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BFF2C02-05A7-1EB2-ADA5-90A7C749BFE1}"/>
              </a:ext>
            </a:extLst>
          </p:cNvPr>
          <p:cNvSpPr/>
          <p:nvPr/>
        </p:nvSpPr>
        <p:spPr>
          <a:xfrm>
            <a:off x="5015345" y="1984662"/>
            <a:ext cx="280555" cy="12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284FA4-C7C9-707F-A682-6B26B8B1206D}"/>
              </a:ext>
            </a:extLst>
          </p:cNvPr>
          <p:cNvSpPr/>
          <p:nvPr/>
        </p:nvSpPr>
        <p:spPr>
          <a:xfrm>
            <a:off x="5479472" y="3096491"/>
            <a:ext cx="1943101" cy="1222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32</a:t>
            </a:r>
          </a:p>
          <a:p>
            <a:r>
              <a:rPr lang="en-SG" dirty="0"/>
              <a:t>Alpha = 64</a:t>
            </a:r>
          </a:p>
          <a:p>
            <a:r>
              <a:rPr lang="en-SG" dirty="0"/>
              <a:t>learning rate = 1e-4</a:t>
            </a:r>
          </a:p>
          <a:p>
            <a:r>
              <a:rPr lang="en-SG" dirty="0"/>
              <a:t>Warm up = 0.1</a:t>
            </a:r>
          </a:p>
          <a:p>
            <a:r>
              <a:rPr lang="en-SG" dirty="0"/>
              <a:t>Epoch = 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A986BC-B855-EFA6-382A-546459677C13}"/>
              </a:ext>
            </a:extLst>
          </p:cNvPr>
          <p:cNvSpPr/>
          <p:nvPr/>
        </p:nvSpPr>
        <p:spPr>
          <a:xfrm>
            <a:off x="2911618" y="3096491"/>
            <a:ext cx="1943101" cy="1222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32</a:t>
            </a:r>
          </a:p>
          <a:p>
            <a:r>
              <a:rPr lang="en-SG" dirty="0"/>
              <a:t>Alpha = 64</a:t>
            </a:r>
          </a:p>
          <a:p>
            <a:r>
              <a:rPr lang="en-SG" dirty="0"/>
              <a:t>learning rate = 1e-4</a:t>
            </a:r>
          </a:p>
          <a:p>
            <a:r>
              <a:rPr lang="en-SG" dirty="0"/>
              <a:t>Warm up = 0.1</a:t>
            </a:r>
          </a:p>
          <a:p>
            <a:r>
              <a:rPr lang="en-SG" dirty="0"/>
              <a:t>Epoch = 6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C3CCDA-B5F1-12A0-2FB7-A561188BAB20}"/>
              </a:ext>
            </a:extLst>
          </p:cNvPr>
          <p:cNvSpPr/>
          <p:nvPr/>
        </p:nvSpPr>
        <p:spPr>
          <a:xfrm>
            <a:off x="368876" y="3096491"/>
            <a:ext cx="1943101" cy="1222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32</a:t>
            </a:r>
          </a:p>
          <a:p>
            <a:r>
              <a:rPr lang="en-SG" dirty="0"/>
              <a:t>Alpha = 64</a:t>
            </a:r>
          </a:p>
          <a:p>
            <a:r>
              <a:rPr lang="en-SG" dirty="0"/>
              <a:t>learning rate = 8e-5</a:t>
            </a:r>
          </a:p>
          <a:p>
            <a:r>
              <a:rPr lang="en-SG" dirty="0"/>
              <a:t>Warm up = 0.1</a:t>
            </a:r>
          </a:p>
          <a:p>
            <a:r>
              <a:rPr lang="en-SG" dirty="0"/>
              <a:t>Epoch = 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8803F5-BB24-D2A3-E923-B94FC45C09DA}"/>
              </a:ext>
            </a:extLst>
          </p:cNvPr>
          <p:cNvSpPr/>
          <p:nvPr/>
        </p:nvSpPr>
        <p:spPr>
          <a:xfrm>
            <a:off x="2911617" y="1371601"/>
            <a:ext cx="1943101" cy="1210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dirty="0"/>
              <a:t>rank = 16</a:t>
            </a:r>
          </a:p>
          <a:p>
            <a:r>
              <a:rPr lang="en-SG" dirty="0"/>
              <a:t>Alpha = 32</a:t>
            </a:r>
          </a:p>
          <a:p>
            <a:r>
              <a:rPr lang="en-SG" dirty="0"/>
              <a:t>learning rate = 5e-4</a:t>
            </a:r>
          </a:p>
          <a:p>
            <a:r>
              <a:rPr lang="en-SG" dirty="0"/>
              <a:t>Warm up = 0.1</a:t>
            </a:r>
          </a:p>
          <a:p>
            <a:r>
              <a:rPr lang="en-SG" dirty="0"/>
              <a:t>Epoch = 2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7128F84-1515-5526-32A1-EBB7D89DD026}"/>
              </a:ext>
            </a:extLst>
          </p:cNvPr>
          <p:cNvSpPr/>
          <p:nvPr/>
        </p:nvSpPr>
        <p:spPr>
          <a:xfrm>
            <a:off x="5015344" y="1995053"/>
            <a:ext cx="280555" cy="12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B227107-7782-2998-089C-872A4C9661A4}"/>
              </a:ext>
            </a:extLst>
          </p:cNvPr>
          <p:cNvSpPr/>
          <p:nvPr/>
        </p:nvSpPr>
        <p:spPr>
          <a:xfrm rot="10800000">
            <a:off x="5026818" y="3731851"/>
            <a:ext cx="280555" cy="12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94FFD9B-4074-1AF7-8D86-39AEDAD0464E}"/>
              </a:ext>
            </a:extLst>
          </p:cNvPr>
          <p:cNvSpPr/>
          <p:nvPr/>
        </p:nvSpPr>
        <p:spPr>
          <a:xfrm rot="10800000">
            <a:off x="2494250" y="3731851"/>
            <a:ext cx="280555" cy="1298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C532C-DBFF-E657-B16A-A4FF054AD0D8}"/>
              </a:ext>
            </a:extLst>
          </p:cNvPr>
          <p:cNvSpPr txBox="1"/>
          <p:nvPr/>
        </p:nvSpPr>
        <p:spPr>
          <a:xfrm>
            <a:off x="436416" y="2604164"/>
            <a:ext cx="172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Best </a:t>
            </a:r>
            <a:r>
              <a:rPr lang="en-SG" dirty="0" err="1"/>
              <a:t>val</a:t>
            </a:r>
            <a:r>
              <a:rPr lang="en-SG" dirty="0"/>
              <a:t> loss: 2.55, overfitted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14570E-3E89-511A-20AF-2761D6E2CC2D}"/>
              </a:ext>
            </a:extLst>
          </p:cNvPr>
          <p:cNvSpPr txBox="1"/>
          <p:nvPr/>
        </p:nvSpPr>
        <p:spPr>
          <a:xfrm>
            <a:off x="2957944" y="2592530"/>
            <a:ext cx="172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Best </a:t>
            </a:r>
            <a:r>
              <a:rPr lang="en-SG" dirty="0" err="1"/>
              <a:t>val</a:t>
            </a:r>
            <a:r>
              <a:rPr lang="en-SG" dirty="0"/>
              <a:t> loss: 2.42</a:t>
            </a:r>
          </a:p>
          <a:p>
            <a:pPr algn="ctr"/>
            <a:r>
              <a:rPr lang="en-SG" dirty="0"/>
              <a:t>overfitted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45B741-51CA-0545-AE7D-6297ABEBB822}"/>
              </a:ext>
            </a:extLst>
          </p:cNvPr>
          <p:cNvSpPr txBox="1"/>
          <p:nvPr/>
        </p:nvSpPr>
        <p:spPr>
          <a:xfrm>
            <a:off x="477980" y="4380993"/>
            <a:ext cx="172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Best </a:t>
            </a:r>
            <a:r>
              <a:rPr lang="en-SG" dirty="0" err="1"/>
              <a:t>val</a:t>
            </a:r>
            <a:r>
              <a:rPr lang="en-SG" dirty="0"/>
              <a:t> loss: 0.81</a:t>
            </a:r>
          </a:p>
          <a:p>
            <a:pPr algn="ctr"/>
            <a:r>
              <a:rPr lang="en-SG" dirty="0"/>
              <a:t>No signs of overfit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AEB67B-4E8D-7B34-2EE1-08876BA180E7}"/>
              </a:ext>
            </a:extLst>
          </p:cNvPr>
          <p:cNvSpPr txBox="1"/>
          <p:nvPr/>
        </p:nvSpPr>
        <p:spPr>
          <a:xfrm>
            <a:off x="3020721" y="4320460"/>
            <a:ext cx="172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Best </a:t>
            </a:r>
            <a:r>
              <a:rPr lang="en-SG" dirty="0" err="1"/>
              <a:t>val</a:t>
            </a:r>
            <a:r>
              <a:rPr lang="en-SG" dirty="0"/>
              <a:t> loss: 1.40</a:t>
            </a:r>
          </a:p>
          <a:p>
            <a:pPr algn="ctr"/>
            <a:r>
              <a:rPr lang="en-SG" dirty="0"/>
              <a:t>overfit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645FB4-3DA8-1582-4D56-25407851119F}"/>
              </a:ext>
            </a:extLst>
          </p:cNvPr>
          <p:cNvSpPr txBox="1"/>
          <p:nvPr/>
        </p:nvSpPr>
        <p:spPr>
          <a:xfrm>
            <a:off x="5595504" y="4325335"/>
            <a:ext cx="172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Best </a:t>
            </a:r>
            <a:r>
              <a:rPr lang="en-SG" dirty="0" err="1"/>
              <a:t>val</a:t>
            </a:r>
            <a:r>
              <a:rPr lang="en-SG" dirty="0"/>
              <a:t> loss: 1.74</a:t>
            </a:r>
          </a:p>
          <a:p>
            <a:pPr algn="ctr"/>
            <a:r>
              <a:rPr lang="en-SG" dirty="0"/>
              <a:t>No sign of overfit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EA75D-2496-3595-D6A3-C3C48F5EE464}"/>
              </a:ext>
            </a:extLst>
          </p:cNvPr>
          <p:cNvSpPr txBox="1"/>
          <p:nvPr/>
        </p:nvSpPr>
        <p:spPr>
          <a:xfrm>
            <a:off x="5588575" y="2573271"/>
            <a:ext cx="172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Best </a:t>
            </a:r>
            <a:r>
              <a:rPr lang="en-SG" dirty="0" err="1"/>
              <a:t>val</a:t>
            </a:r>
            <a:r>
              <a:rPr lang="en-SG" dirty="0"/>
              <a:t> loss: 1.90</a:t>
            </a:r>
          </a:p>
          <a:p>
            <a:pPr algn="ctr"/>
            <a:r>
              <a:rPr lang="en-SG" dirty="0"/>
              <a:t>Plateau of loss</a:t>
            </a:r>
          </a:p>
        </p:txBody>
      </p:sp>
      <p:sp>
        <p:nvSpPr>
          <p:cNvPr id="3" name="Arrow: Curved Left 2">
            <a:extLst>
              <a:ext uri="{FF2B5EF4-FFF2-40B4-BE49-F238E27FC236}">
                <a16:creationId xmlns:a16="http://schemas.microsoft.com/office/drawing/2014/main" id="{54E57E1C-68B7-B582-EA52-6A795FDCA471}"/>
              </a:ext>
            </a:extLst>
          </p:cNvPr>
          <p:cNvSpPr/>
          <p:nvPr/>
        </p:nvSpPr>
        <p:spPr>
          <a:xfrm>
            <a:off x="7567924" y="1929889"/>
            <a:ext cx="854665" cy="209071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45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9A89-BA80-1FE5-8AAD-DFD6E3CA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3520-7A87-0B0F-0EBA-4BC42097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Test against benchmarks (deterministic)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4B603-E35C-F9A1-57C1-5241F7F775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AEDB2-CD93-A46E-3369-E36273F20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327" y="1452012"/>
            <a:ext cx="3774082" cy="2494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272FA1-63C0-418B-59F7-34BF042E2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78" y="1403603"/>
            <a:ext cx="3903286" cy="2494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46A750-01E7-8CE5-CE11-444760F23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856" y="4033661"/>
            <a:ext cx="1438286" cy="4667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49083E-65FF-6AE8-563C-0BA2E9ABE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8974" y="4024135"/>
            <a:ext cx="1628787" cy="48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78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CD7C-1794-1150-2FC7-531DB451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210"/>
            <a:ext cx="8224894" cy="575700"/>
          </a:xfrm>
        </p:spPr>
        <p:txBody>
          <a:bodyPr>
            <a:normAutofit fontScale="90000"/>
          </a:bodyPr>
          <a:lstStyle/>
          <a:p>
            <a:r>
              <a:rPr lang="en-SG" dirty="0"/>
              <a:t>Test against benchmarks (with temperature=0.5)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6FA4B-6345-DE06-5896-83177A1E6E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28AA43-791C-D42C-79EB-227214D789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677"/>
          <a:stretch>
            <a:fillRect/>
          </a:stretch>
        </p:blipFill>
        <p:spPr>
          <a:xfrm>
            <a:off x="225102" y="1497333"/>
            <a:ext cx="4199694" cy="2698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2FEBC2-F760-18A3-D304-EB6BF83214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27" t="3157" r="-2962" b="74756"/>
          <a:stretch>
            <a:fillRect/>
          </a:stretch>
        </p:blipFill>
        <p:spPr>
          <a:xfrm>
            <a:off x="1523884" y="4281122"/>
            <a:ext cx="1806177" cy="785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D05DEE-B402-C3D7-6129-51E3CBC10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668" y="1565238"/>
            <a:ext cx="3962521" cy="26302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D25B43-55AE-CD9B-2F41-94ECF0D1F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940" y="4325148"/>
            <a:ext cx="1630352" cy="50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0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36F7-7C73-75E9-7D2A-F77A03A9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LLM as judge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98A9F-1317-0335-4AF1-D7CB94560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EDEABB-B9CF-F383-A0F8-296DA2454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72" y="1469783"/>
            <a:ext cx="6737190" cy="33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0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1F08-3C04-7942-07D2-ECE972AE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Human as judge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F5AD4-605E-8883-0719-47321CCB79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78D84-1E41-DCD0-73D1-367F78E54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17" y="1281088"/>
            <a:ext cx="7229528" cy="34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5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3CFA-DD71-CFA4-5B23-9989AB0C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Disagreement between metrics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F2BB1-666D-07C0-1021-55D357A8D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Small validation loss but poor performance in test:</a:t>
            </a:r>
          </a:p>
          <a:p>
            <a:pPr lvl="1"/>
            <a:r>
              <a:rPr lang="en-SG" dirty="0"/>
              <a:t>Selection bias for validation set due to small base corpus</a:t>
            </a:r>
          </a:p>
          <a:p>
            <a:pPr lvl="1"/>
            <a:r>
              <a:rPr lang="en-SG" dirty="0"/>
              <a:t>Out of Distribution generation of some tasks in test set</a:t>
            </a:r>
          </a:p>
          <a:p>
            <a:pPr lvl="1"/>
            <a:r>
              <a:rPr lang="en-SG" dirty="0"/>
              <a:t>Incomplete answer in training data</a:t>
            </a:r>
          </a:p>
          <a:p>
            <a:r>
              <a:rPr lang="en-SG" dirty="0"/>
              <a:t>Small disagreement between human validator and LLM</a:t>
            </a:r>
          </a:p>
          <a:p>
            <a:pPr lvl="1"/>
            <a:r>
              <a:rPr lang="en-SG" dirty="0"/>
              <a:t>Although the general trend is similar, human validator are more conservative in relevance ranking and provided a more dispersed feedback for correctness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61E02-37B2-D96F-EDBF-D7AC6B8EEB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20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81967-8B42-CB69-18CA-4077C38B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78C45-94D0-1312-C0BB-A4F31EFE0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SG" dirty="0"/>
              <a:t>Wang, Y., Kordi, Y., Mishra, S., Liu, A., Smith, N. A., </a:t>
            </a:r>
            <a:r>
              <a:rPr lang="en-SG" dirty="0" err="1"/>
              <a:t>Khashabi</a:t>
            </a:r>
            <a:r>
              <a:rPr lang="en-SG" dirty="0"/>
              <a:t>, D., &amp; </a:t>
            </a:r>
            <a:r>
              <a:rPr lang="en-SG" dirty="0" err="1"/>
              <a:t>Hajishirzi</a:t>
            </a:r>
            <a:r>
              <a:rPr lang="en-SG" dirty="0"/>
              <a:t>, H. (2023). Self-Instruct: Aligning language models with self-generated instructions. </a:t>
            </a:r>
            <a:r>
              <a:rPr lang="en-SG" i="1" dirty="0"/>
              <a:t>Proceedings of the 61st Annual Meeting of the Association for Computational Linguistics (ACL 2023)</a:t>
            </a:r>
            <a:r>
              <a:rPr lang="en-SG" dirty="0"/>
              <a:t>. </a:t>
            </a:r>
            <a:r>
              <a:rPr lang="en-SG" dirty="0">
                <a:hlinkClick r:id="rId2"/>
              </a:rPr>
              <a:t>https://aclanthology.org/2023.acl-long.754/</a:t>
            </a:r>
            <a:endParaRPr lang="en-SG" dirty="0"/>
          </a:p>
          <a:p>
            <a:r>
              <a:rPr lang="en-SG" dirty="0"/>
              <a:t>Bao, Z., Chen, W., Xiao, S., Ren, K., Wu, J., Zhong, C., Peng, J., Huang, X., &amp; Wei, Z. (2023). DISC-</a:t>
            </a:r>
            <a:r>
              <a:rPr lang="en-SG" dirty="0" err="1"/>
              <a:t>MedLLM</a:t>
            </a:r>
            <a:r>
              <a:rPr lang="en-SG" dirty="0"/>
              <a:t>: Bridging general large language models and real-world medical consultation. </a:t>
            </a:r>
            <a:r>
              <a:rPr lang="en-SG" i="1" dirty="0" err="1"/>
              <a:t>arXiv</a:t>
            </a:r>
            <a:r>
              <a:rPr lang="en-SG" i="1" dirty="0"/>
              <a:t> preprint</a:t>
            </a:r>
            <a:r>
              <a:rPr lang="en-SG" dirty="0"/>
              <a:t> arXiv:2308.14346. </a:t>
            </a:r>
            <a:r>
              <a:rPr lang="en-SG" dirty="0">
                <a:hlinkClick r:id="rId3"/>
              </a:rPr>
              <a:t>https://arxiv.org/abs/2308.14346</a:t>
            </a:r>
            <a:endParaRPr lang="en-SG" dirty="0"/>
          </a:p>
          <a:p>
            <a:r>
              <a:rPr lang="en-SG" dirty="0"/>
              <a:t>Wei, Q., Yang, M., Wang, J., Mao, W., Xu, J., &amp; Ning, H. (2024). </a:t>
            </a:r>
            <a:r>
              <a:rPr lang="en-SG" dirty="0" err="1"/>
              <a:t>TourLLM</a:t>
            </a:r>
            <a:r>
              <a:rPr lang="en-SG" dirty="0"/>
              <a:t>: Enhancing LLMs with tourism knowledge. </a:t>
            </a:r>
            <a:r>
              <a:rPr lang="en-SG" i="1" dirty="0" err="1"/>
              <a:t>arXiv</a:t>
            </a:r>
            <a:r>
              <a:rPr lang="en-SG" i="1" dirty="0"/>
              <a:t> preprint</a:t>
            </a:r>
            <a:r>
              <a:rPr lang="en-SG" dirty="0"/>
              <a:t> arXiv:2407.12791. </a:t>
            </a:r>
            <a:r>
              <a:rPr lang="en-SG" dirty="0">
                <a:hlinkClick r:id="rId4"/>
              </a:rPr>
              <a:t>https://arxiv.org/abs/2407.12791</a:t>
            </a:r>
            <a:endParaRPr lang="en-SG" dirty="0"/>
          </a:p>
          <a:p>
            <a:r>
              <a:rPr lang="en-SG" dirty="0"/>
              <a:t>Dettmers, T., Pagnoni, A., Holtzman, A., &amp; </a:t>
            </a:r>
            <a:r>
              <a:rPr lang="en-SG" dirty="0" err="1"/>
              <a:t>Zettlemfinetuning</a:t>
            </a:r>
            <a:r>
              <a:rPr lang="en-SG" dirty="0"/>
              <a:t> of quantized LLMs. </a:t>
            </a:r>
            <a:r>
              <a:rPr lang="en-SG" i="1" dirty="0" err="1"/>
              <a:t>arXiv</a:t>
            </a:r>
            <a:r>
              <a:rPr lang="en-SG" i="1" dirty="0"/>
              <a:t> preprint</a:t>
            </a:r>
            <a:r>
              <a:rPr lang="en-SG" dirty="0"/>
              <a:t> arXiv:2305.14314. </a:t>
            </a:r>
            <a:r>
              <a:rPr lang="en-SG" dirty="0">
                <a:hlinkClick r:id="rId5"/>
              </a:rPr>
              <a:t>https://arxiv.org/abs/2305.14314</a:t>
            </a:r>
            <a:endParaRPr lang="en-SG" dirty="0"/>
          </a:p>
          <a:p>
            <a:r>
              <a:rPr lang="en-SG" dirty="0"/>
              <a:t>oyer, L. (2023). </a:t>
            </a:r>
            <a:r>
              <a:rPr lang="en-SG" dirty="0" err="1"/>
              <a:t>QLoRA</a:t>
            </a:r>
            <a:r>
              <a:rPr lang="en-SG" dirty="0"/>
              <a:t>: Efficient Yang, A., Li, A., Yang, B., Zhang, B., Hui, B., Zheng, B., … Zhou, J. (2025). Qwen3 technical report. </a:t>
            </a:r>
            <a:r>
              <a:rPr lang="en-SG" i="1" dirty="0" err="1"/>
              <a:t>arXiv</a:t>
            </a:r>
            <a:r>
              <a:rPr lang="en-SG" i="1" dirty="0"/>
              <a:t> preprint</a:t>
            </a:r>
            <a:r>
              <a:rPr lang="en-SG" dirty="0"/>
              <a:t> arXiv:2505.09388. </a:t>
            </a:r>
            <a:r>
              <a:rPr lang="en-SG" dirty="0">
                <a:hlinkClick r:id="rId6"/>
              </a:rPr>
              <a:t>https://arxiv.org/abs/2505.09388</a:t>
            </a:r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71E1-624F-F341-1BA9-8A4FAD777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919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>
          <a:extLst>
            <a:ext uri="{FF2B5EF4-FFF2-40B4-BE49-F238E27FC236}">
              <a16:creationId xmlns:a16="http://schemas.microsoft.com/office/drawing/2014/main" id="{C847CD11-29D2-5257-C5CC-2A202C2E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5">
            <a:extLst>
              <a:ext uri="{FF2B5EF4-FFF2-40B4-BE49-F238E27FC236}">
                <a16:creationId xmlns:a16="http://schemas.microsoft.com/office/drawing/2014/main" id="{C18ED9E5-0FAF-E4FE-D2BD-05F187575D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1045850"/>
            <a:ext cx="8520600" cy="2052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  <p:sp>
        <p:nvSpPr>
          <p:cNvPr id="423" name="Google Shape;423;p55">
            <a:extLst>
              <a:ext uri="{FF2B5EF4-FFF2-40B4-BE49-F238E27FC236}">
                <a16:creationId xmlns:a16="http://schemas.microsoft.com/office/drawing/2014/main" id="{2EC3BA6D-7496-00F3-7223-BB75467EF0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74975" y="4767338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67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576AAEBF9C6C4BA3E1E5F81DD45BC8" ma:contentTypeVersion="7" ma:contentTypeDescription="Create a new document." ma:contentTypeScope="" ma:versionID="a32e3732c902251bc74596b83fa124f0">
  <xsd:schema xmlns:xsd="http://www.w3.org/2001/XMLSchema" xmlns:xs="http://www.w3.org/2001/XMLSchema" xmlns:p="http://schemas.microsoft.com/office/2006/metadata/properties" xmlns:ns2="84708177-49b0-424b-b4df-e089023839af" targetNamespace="http://schemas.microsoft.com/office/2006/metadata/properties" ma:root="true" ma:fieldsID="b49e3255fd81b9f45c46303dc3839a3b" ns2:_="">
    <xsd:import namespace="84708177-49b0-424b-b4df-e089023839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08177-49b0-424b-b4df-e089023839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3B916D-9316-447C-A325-9E622FEFDA45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84708177-49b0-424b-b4df-e089023839af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9456D10-C38E-404E-AC47-D2A5162C36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AB74E7-025C-43B5-AF86-DB6B87C9C61B}">
  <ds:schemaRefs>
    <ds:schemaRef ds:uri="84708177-49b0-424b-b4df-e089023839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1180</Words>
  <Application>Microsoft Office PowerPoint</Application>
  <PresentationFormat>On-screen Show (16:9)</PresentationFormat>
  <Paragraphs>144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Play</vt:lpstr>
      <vt:lpstr>Arial</vt:lpstr>
      <vt:lpstr>Calibri</vt:lpstr>
      <vt:lpstr>Office Theme</vt:lpstr>
      <vt:lpstr>QLoRA Fine-Tuning of Qwen3-4B on a Curated Chinese Tourism Q&amp;A Corpus from Undergraduate Contributors</vt:lpstr>
      <vt:lpstr>From Curated Multi-Style Q&amp;A to a Chinese Tour Assistant:</vt:lpstr>
      <vt:lpstr>Human-in-the-Loop Evaluation: Gold-Standard Creation and LLM Review</vt:lpstr>
      <vt:lpstr>Evaluation scoring system (Wei, 2024):</vt:lpstr>
      <vt:lpstr>Supervised Finetuning</vt:lpstr>
      <vt:lpstr>Test against benchmarks (deterministic)</vt:lpstr>
      <vt:lpstr>Test against benchmarks (with temperature=0.5)</vt:lpstr>
      <vt:lpstr>LLM as judge</vt:lpstr>
      <vt:lpstr>Human as judge</vt:lpstr>
      <vt:lpstr>Disagreement between metrics 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xjie</dc:creator>
  <cp:lastModifiedBy>LI Xinjie</cp:lastModifiedBy>
  <cp:revision>12</cp:revision>
  <dcterms:modified xsi:type="dcterms:W3CDTF">2026-03-07T08:24:38Z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0x010100BD576AAEBF9C6C4BA3E1E5F81DD45BC8</vt:lpwstr>
  </property>
</Properties>
</file>